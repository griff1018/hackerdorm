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Calibri"/>
              </a:rPr>
              <a:t>Track 2, Hackerdorm — judges, Track 2: WorkBuddy Track.</a:t>
            </a:r>
          </a:p>
          <a:p>
            <a:r>
              <a:rPr sz="1100">
                <a:latin typeface="Calibri"/>
              </a:rPr>
              <a:t>Slide 1 — Criterion 1: real problem and user value.</a:t>
            </a:r>
          </a:p>
          <a:p>
            <a:r>
              <a:rPr sz="1100">
                <a:latin typeface="Calibri"/>
              </a:rPr>
              <a:t>Picture a student who sells kuih between lectures.</a:t>
            </a:r>
          </a:p>
          <a:p>
            <a:r>
              <a:rPr sz="1100">
                <a:latin typeface="Calibri"/>
              </a:rPr>
              <a:t>Twenty-two sample customers in our demo WhatsApp. (test S4)</a:t>
            </a:r>
          </a:p>
          <a:p>
            <a:r>
              <a:rPr sz="1100">
                <a:latin typeface="Calibri"/>
              </a:rPr>
              <a:t>Touch 'n Go, online banking, cash — verified on Money Flow. (test S7)</a:t>
            </a:r>
          </a:p>
          <a:p>
            <a:r>
              <a:rPr sz="1100">
                <a:latin typeface="Calibri"/>
              </a:rPr>
              <a:t>She can't see margins, stockouts or supplier orders. Today's slide 5 shows the alert that fixes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Calibri"/>
              </a:rPr>
              <a:t>Slide 2 — Criterion 3: meaningful use of WorkBuddy.</a:t>
            </a:r>
          </a:p>
          <a:p>
            <a:r>
              <a:rPr sz="1100">
                <a:latin typeface="Calibri"/>
              </a:rPr>
              <a:t>Answer the core judging question out loud: yes.</a:t>
            </a:r>
          </a:p>
          <a:p>
            <a:r>
              <a:rPr sz="1100">
                <a:latin typeface="Calibri"/>
              </a:rPr>
              <a:t>Agent runtime = the CodeBuddy CLI inside WorkBuddy (test F1: codebuddy 2.164.0, stream-json).</a:t>
            </a:r>
          </a:p>
          <a:p>
            <a:r>
              <a:rPr sz="1100">
                <a:latin typeface="Calibri"/>
              </a:rPr>
              <a:t>Enterprise Buddy's server and screens are the viewing and action layer around it.</a:t>
            </a:r>
          </a:p>
          <a:p>
            <a:r>
              <a:rPr sz="1100">
                <a:latin typeface="Calibri"/>
              </a:rPr>
              <a:t>Tool whitelist restricts the agent to read-only commands; everything that changes anything goes through owner approval. (test F2)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Calibri"/>
              </a:rPr>
              <a:t>Slide 3 — Criteria 2 and 4: agentic workflow, end-to-end.</a:t>
            </a:r>
          </a:p>
          <a:p>
            <a:r>
              <a:rPr sz="1100">
                <a:latin typeface="Calibri"/>
              </a:rPr>
              <a:t>Single prompt, full chain. No intermediate guidance.</a:t>
            </a:r>
          </a:p>
          <a:p>
            <a:r>
              <a:rPr sz="1100">
                <a:latin typeface="Calibri"/>
              </a:rPr>
              <a:t>Departments are real: Operations, Strategy, Guides, Marketing, Reporting, Verifier, Technology.</a:t>
            </a:r>
          </a:p>
          <a:p>
            <a:r>
              <a:rPr sz="1100">
                <a:latin typeface="Calibri"/>
              </a:rPr>
              <a:t>Map: 60 real food places around UM (26 cafe, 23 fast food, 8 food court). (test 'Market map — competitors near UM')</a:t>
            </a:r>
          </a:p>
          <a:p>
            <a:r>
              <a:rPr sz="1100">
                <a:latin typeface="Calibri"/>
              </a:rPr>
              <a:t>Plan record: run 171822-c203 / chat 1010174017-288a.</a:t>
            </a:r>
          </a:p>
          <a:p>
            <a:r>
              <a:rPr sz="1100">
                <a:latin typeface="Calibri"/>
              </a:rPr>
              <a:t>Chat 'bought sugar, paid TNG' test: 7 app actions, all correct, number check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Calibri"/>
              </a:rPr>
              <a:t>Slide 4 — Criterion 5: usable and verifiable results.</a:t>
            </a:r>
          </a:p>
          <a:p>
            <a:r>
              <a:rPr sz="1100">
                <a:latin typeface="Calibri"/>
              </a:rPr>
              <a:t>All four tile numbers are visible on the Money Flow screenshot on the right.</a:t>
            </a:r>
          </a:p>
          <a:p>
            <a:r>
              <a:rPr sz="1100">
                <a:latin typeface="Calibri"/>
              </a:rPr>
              <a:t>Online banking and Touch 'n Go connections are simulated feeds; the badge says SIMULATED.</a:t>
            </a:r>
          </a:p>
          <a:p>
            <a:r>
              <a:rPr sz="1100">
                <a:latin typeface="Calibri"/>
              </a:rPr>
              <a:t>Auto-reorder test S2: cookies 18 ≤ reorder 20 → 2 × 1 kg chips, MYR 39.80, sources.</a:t>
            </a:r>
          </a:p>
          <a:p>
            <a:r>
              <a:rPr sz="1100">
                <a:latin typeface="Calibri"/>
              </a:rPr>
              <a:t>Auto-reply WhatsApp test S3: 4 automatic replies, MYR 21.50 menu-priced.</a:t>
            </a:r>
          </a:p>
          <a:p>
            <a:r>
              <a:rPr sz="1100">
                <a:latin typeface="Calibri"/>
              </a:rPr>
              <a:t>Do not claim these are real revenue. They are synthetic demo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Calibri"/>
              </a:rPr>
              <a:t>Slide 5 — Criterion 5 (ease-of-use) and safety.</a:t>
            </a:r>
          </a:p>
          <a:p>
            <a:r>
              <a:rPr sz="1100">
                <a:latin typeface="Calibri"/>
              </a:rPr>
              <a:t>Ease of use is our headline advantage. The chat is the product.</a:t>
            </a:r>
          </a:p>
          <a:p>
            <a:r>
              <a:rPr sz="1100">
                <a:latin typeface="Calibri"/>
              </a:rPr>
              <a:t>Involvement modes: Auto / Ask me / Approve at end (Section G.10). Live demo uses Auto.</a:t>
            </a:r>
          </a:p>
          <a:p>
            <a:r>
              <a:rPr sz="1100">
                <a:latin typeface="Calibri"/>
              </a:rPr>
              <a:t>Asks instead of guessing: 'Bug: agent assumed the customer of an unnamed order' fix; console holds unnamed orders and asks.</a:t>
            </a:r>
          </a:p>
          <a:p>
            <a:r>
              <a:rPr sz="1100">
                <a:latin typeface="Calibri"/>
              </a:rPr>
              <a:t>Undo on every app action. (test S9)</a:t>
            </a:r>
          </a:p>
          <a:p>
            <a:r>
              <a:rPr sz="1100">
                <a:latin typeface="Calibri"/>
              </a:rPr>
              <a:t>Number check: caught invented weekday figures (test S8). Now fixed and re-verified.</a:t>
            </a:r>
          </a:p>
          <a:p>
            <a:r>
              <a:rPr sz="1100">
                <a:latin typeface="Calibri"/>
              </a:rPr>
              <a:t>Payments: 'Pay (simulated)' badge; never requests cards or passwords (Section G.14).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Calibri"/>
              </a:rPr>
              <a:t>Slide 6 — Criterion 5: verifiable.</a:t>
            </a:r>
          </a:p>
          <a:p>
            <a:r>
              <a:rPr sz="1100">
                <a:latin typeface="Calibri"/>
              </a:rPr>
              <a:t>Every claim on the slide is a row in docs/AGENT_CONSOLE_TESTS.md (date 2026-10-10 and 2026-10-11).</a:t>
            </a:r>
          </a:p>
          <a:p>
            <a:r>
              <a:rPr sz="1100">
                <a:latin typeface="Calibri"/>
              </a:rPr>
              <a:t>If pressed for a number: every figure shown is on the test-log row, all synthetic.</a:t>
            </a:r>
          </a:p>
          <a:p>
            <a:r>
              <a:rPr sz="1100">
                <a:latin typeface="Calibri"/>
              </a:rPr>
              <a:t>Honest next step: real-user testing with 3–5 student sellers. Do not claim results we have not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>
                <a:latin typeface="Calibri"/>
              </a:rPr>
              <a:t>Slide 7 — repeat the core judging sentence out loud.</a:t>
            </a:r>
          </a:p>
          <a:p>
            <a:r>
              <a:rPr sz="1100">
                <a:latin typeface="Calibri"/>
              </a:rPr>
              <a:t>If time runs short, drop slide 6 first; the proof survives in the speaker notes.</a:t>
            </a:r>
          </a:p>
          <a:p>
            <a:r>
              <a:rPr sz="1100">
                <a:latin typeface="Calibri"/>
              </a:rPr>
              <a:t>Open the repo and the running demo only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Calibri"/>
              </a:rPr>
              <a:t>SLIDE 1 / 7  ·  0:00 – 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778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A student seller, scattered chats and stock in her head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2331720" cy="411480"/>
          </a:xfrm>
          <a:prstGeom prst="roundRect">
            <a:avLst/>
          </a:prstGeom>
          <a:solidFill>
            <a:srgbClr val="F4F4F5"/>
          </a:solidFill>
          <a:ln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tIns="0"/>
          <a:lstStyle/>
          <a:p>
            <a:pPr algn="ctr"/>
            <a:r>
              <a:rPr sz="1000" b="1">
                <a:solidFill>
                  <a:srgbClr val="475569"/>
                </a:solidFill>
                <a:latin typeface="Calibri"/>
              </a:rPr>
              <a:t>Criterion 1 · Real problem &amp; user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1155680" cy="12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502920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F172A"/>
                </a:solidFill>
                <a:latin typeface="Calibri"/>
              </a:rPr>
              <a:t>Orders on WhatsApp.</a:t>
            </a:r>
          </a:p>
          <a:p>
            <a:pPr algn="l"/>
            <a:r>
              <a:rPr sz="2000" b="0" i="0">
                <a:solidFill>
                  <a:srgbClr val="0F172A"/>
                </a:solidFill>
                <a:latin typeface="Calibri"/>
              </a:rPr>
              <a:t>Money in 22 sample chats — Touch 'n Go, online banking, cash.</a:t>
            </a:r>
          </a:p>
          <a:p>
            <a:pPr algn="l"/>
            <a:r>
              <a:rPr sz="2000" b="0" i="0">
                <a:solidFill>
                  <a:srgbClr val="0F172A"/>
                </a:solidFill>
                <a:latin typeface="Calibri"/>
              </a:rPr>
              <a:t>Stock tracked in her head.</a:t>
            </a:r>
          </a:p>
          <a:p>
            <a:pPr algn="l"/>
            <a:r>
              <a:rPr sz="2000" b="0" i="0">
                <a:solidFill>
                  <a:srgbClr val="0F172A"/>
                </a:solidFill>
                <a:latin typeface="Calibri"/>
              </a:rPr>
              <a:t>No time to learn another dashboard.</a:t>
            </a:r>
          </a:p>
          <a:p>
            <a:pPr algn="l"/>
            <a:r>
              <a:rPr sz="2000" b="0" i="0">
                <a:solidFill>
                  <a:srgbClr val="0F172A"/>
                </a:solidFill>
                <a:latin typeface="Calibri"/>
              </a:rPr>
              <a:t>She needs someone to do the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645920"/>
            <a:ext cx="5897880" cy="452628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 w="9525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whats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094547"/>
            <a:ext cx="5806440" cy="36290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97880" y="6199632"/>
            <a:ext cx="5806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Demo WhatsApp inbox — 14 customer chats visible. SYNTHETIC.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3796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75569"/>
                </a:solidFill>
                <a:latin typeface="Calibri"/>
              </a:rPr>
              <a:t>Enterprise Buddy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Synthetic demo data. No real payments move.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Calibri"/>
              </a:rPr>
              <a:t>SLIDE 2 / 7  ·  0:25 – 0:50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778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WorkBuddy is the brain, not just the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2331720" cy="411480"/>
          </a:xfrm>
          <a:prstGeom prst="roundRect">
            <a:avLst/>
          </a:prstGeom>
          <a:solidFill>
            <a:srgbClr val="F4F4F5"/>
          </a:solidFill>
          <a:ln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tIns="0"/>
          <a:lstStyle/>
          <a:p>
            <a:pPr algn="ctr"/>
            <a:r>
              <a:rPr sz="1000" b="1">
                <a:solidFill>
                  <a:srgbClr val="475569"/>
                </a:solidFill>
                <a:latin typeface="Calibri"/>
              </a:rPr>
              <a:t>Criterion 3 · Meaningful use of WorkBuddy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1155680" cy="12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512064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Can our AI agent use WorkBuddy to solve a real problem — and actually get things done?</a:t>
            </a:r>
          </a:p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Yes.</a:t>
            </a:r>
          </a:p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WorkBuddy is the agent's runtime, not just the IDE we used to write code.</a:t>
            </a:r>
          </a:p>
          <a:p>
            <a:pPr algn="l"/>
            <a:r>
              <a:rPr sz="1800" b="0" i="0">
                <a:solidFill>
                  <a:srgbClr val="0F172A"/>
                </a:solidFill>
                <a:latin typeface="Calibri"/>
              </a:rPr>
              <a:t>Every request goes to WorkBuddy. It plans, calls a read-only toolkit, searches the web, and returns actions the app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645920"/>
            <a:ext cx="5897880" cy="452628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 w="9525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094547"/>
            <a:ext cx="5806440" cy="36290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97880" y="6199632"/>
            <a:ext cx="5806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One chat box. Suggested prompts adapt to Campus Crumb's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3796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75569"/>
                </a:solidFill>
                <a:latin typeface="Calibri"/>
              </a:rPr>
              <a:t>Enterprise Buddy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Synthetic demo data. No real payments move.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Calibri"/>
              </a:rPr>
              <a:t>SLIDE 3 / 7  ·  0:50 – 1:30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778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One prompt → plan → departments → owner approval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2331720" cy="411480"/>
          </a:xfrm>
          <a:prstGeom prst="roundRect">
            <a:avLst/>
          </a:prstGeom>
          <a:solidFill>
            <a:srgbClr val="F4F4F5"/>
          </a:solidFill>
          <a:ln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tIns="0"/>
          <a:lstStyle/>
          <a:p>
            <a:pPr algn="ctr"/>
            <a:r>
              <a:rPr sz="1000" b="1">
                <a:solidFill>
                  <a:srgbClr val="475569"/>
                </a:solidFill>
                <a:latin typeface="Calibri"/>
              </a:rPr>
              <a:t>Criteria 2 + 4 · Agentic · End-to-end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1155680" cy="12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512064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Prompt: "I want to sell kuih at my campus near Universiti Malaya."</a:t>
            </a:r>
          </a:p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WorkBuddy splits it: Operations scores suppliers · Strategy maps competitors from OpenStreetMap · Guides drafts permits · Marketing drafts posts.</a:t>
            </a:r>
          </a:p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Every step cites a real web page or the owner's own records.</a:t>
            </a:r>
          </a:p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 stale stock count triggers 'recount first' — never a wrong reorder.</a:t>
            </a:r>
          </a:p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And small things just work — "bought sugar, paid by TNG" becomes two money entries + an inventory top-up in one reply.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645920"/>
            <a:ext cx="5897880" cy="452628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 w="9525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094547"/>
            <a:ext cx="5806440" cy="36290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97880" y="6199632"/>
            <a:ext cx="5806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Plan P1–P5 with review panel and 60 real competitor places from OpenStreetMap.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3796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75569"/>
                </a:solidFill>
                <a:latin typeface="Calibri"/>
              </a:rPr>
              <a:t>Enterprise Buddy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Synthetic demo data. No real payments move.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Calibri"/>
              </a:rPr>
              <a:t>SLIDE 4 / 7  ·  1:30 – 2:05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778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Money in, money out, and the alerts that matter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2331720" cy="411480"/>
          </a:xfrm>
          <a:prstGeom prst="roundRect">
            <a:avLst/>
          </a:prstGeom>
          <a:solidFill>
            <a:srgbClr val="F4F4F5"/>
          </a:solidFill>
          <a:ln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tIns="0"/>
          <a:lstStyle/>
          <a:p>
            <a:pPr algn="ctr"/>
            <a:r>
              <a:rPr sz="1000" b="1">
                <a:solidFill>
                  <a:srgbClr val="475569"/>
                </a:solidFill>
                <a:latin typeface="Calibri"/>
              </a:rPr>
              <a:t>Criterion 5 · Usable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1155680" cy="12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120640" cy="461772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 w="9525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Calibri"/>
              </a:rPr>
              <a:t>Money Flow · synthetic demo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532D"/>
                </a:solidFill>
                <a:latin typeface="Calibri"/>
              </a:rPr>
              <a:t>MYR 2,507.25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B91C1C"/>
                </a:solidFill>
                <a:latin typeface="Calibri"/>
              </a:rPr>
              <a:t>MYR 1,172.30 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4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Calibri"/>
              </a:rPr>
              <a:t>MYR 1,334.95 kept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86200"/>
            <a:ext cx="47548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Orders from WhatsApp, Instagram and the online shop — AI prices from menu.csv.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Inventory with auto-reorder; supplier orders go to the supplier's WhatsApp after you approve.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Auto-posting · Customers &amp; reviews · Task checklist.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Heads-up: 'Cookies run out in 3.2 days — reorder now.'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645920"/>
            <a:ext cx="5897880" cy="452628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 w="9525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4_mone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094547"/>
            <a:ext cx="5806440" cy="36290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97880" y="6199632"/>
            <a:ext cx="5806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Live Money Flow page. Verified: in MYR 2,507.25, out MYR 1,172.30. Synthetic.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53796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75569"/>
                </a:solidFill>
                <a:latin typeface="Calibri"/>
              </a:rPr>
              <a:t>Enterprise Buddy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Synthetic demo data. No real payments move.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Calibri"/>
              </a:rPr>
              <a:t>SLIDE 5 / 7  ·  2:05 – 2:35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778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One chat. Owner approves. Real money never moves.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2331720" cy="411480"/>
          </a:xfrm>
          <a:prstGeom prst="roundRect">
            <a:avLst/>
          </a:prstGeom>
          <a:solidFill>
            <a:srgbClr val="F4F4F5"/>
          </a:solidFill>
          <a:ln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tIns="0"/>
          <a:lstStyle/>
          <a:p>
            <a:pPr algn="ctr"/>
            <a:r>
              <a:rPr sz="1000" b="1">
                <a:solidFill>
                  <a:srgbClr val="475569"/>
                </a:solidFill>
                <a:latin typeface="Calibri"/>
              </a:rPr>
              <a:t>Criterion 5 · Ease of use · Safety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1155680" cy="12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512064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Plain language and the top actions first.</a:t>
            </a:r>
          </a:p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Owner chooses how involved to be: quick answers, or a plan they approve step by step.</a:t>
            </a:r>
          </a:p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If the agent isn't sure, it asks.</a:t>
            </a:r>
          </a:p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Give it an order with no customer name and it asks 'Who is this order for?'</a:t>
            </a:r>
          </a:p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Every change has Undo. Every MYR figure is checked against the data.</a:t>
            </a:r>
          </a:p>
          <a:p>
            <a:pPr algn="l"/>
            <a:r>
              <a:rPr sz="1500" b="0" i="0">
                <a:solidFill>
                  <a:srgbClr val="0F172A"/>
                </a:solidFill>
                <a:latin typeface="Calibri"/>
              </a:rPr>
              <a:t>Payments are simulated and wait for the owner's approval.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645920"/>
            <a:ext cx="5897880" cy="452628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 w="9525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7_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094547"/>
            <a:ext cx="5806440" cy="36290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97880" y="6199632"/>
            <a:ext cx="5806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Inventory: 'Approve &amp; pay' / 'Not now' gate, supplier options, sources for every order.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3796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75569"/>
                </a:solidFill>
                <a:latin typeface="Calibri"/>
              </a:rPr>
              <a:t>Enterprise Buddy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Synthetic demo data. No real payments move.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Calibri"/>
              </a:rPr>
              <a:t>SLIDE 6 / 7  ·  2:35 – 2:50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778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Tested on synthetic data. Real-user testing is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2331720" cy="411480"/>
          </a:xfrm>
          <a:prstGeom prst="roundRect">
            <a:avLst/>
          </a:prstGeom>
          <a:solidFill>
            <a:srgbClr val="F4F4F5"/>
          </a:solidFill>
          <a:ln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tIns="0"/>
          <a:lstStyle/>
          <a:p>
            <a:pPr algn="ctr"/>
            <a:r>
              <a:rPr sz="1000" b="1">
                <a:solidFill>
                  <a:srgbClr val="475569"/>
                </a:solidFill>
                <a:latin typeface="Calibri"/>
              </a:rPr>
              <a:t>Criterion 5 · Verifiable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1155680" cy="12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5120640" cy="461772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 w="9525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Calibri"/>
              </a:rPr>
              <a:t>Evidence at a glance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WorkBuddy CLI live, streaming events  (F1)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Tool whitelist enforced  (F2)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'What needs my attention today?' → 9 plan items, verifier PASS  (test 1)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Prompt-injection refused  (test 9)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Approve 2 / reject 1, budget reconciled  (test 10)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OpenStreetMap competitor map, 60 places  (S1)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Auto-reorder on real stock, with sources  (S2)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Auto-reply WhatsApp orders from menu.csv  (S3)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Money Flow reconciles to verified brief  (S7)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Number check caught invented figures  (S8)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Undo verified for every change  (S9)</a:t>
            </a:r>
          </a:p>
          <a:p>
            <a:pPr algn="l"/>
            <a:r>
              <a:rPr sz="1200" b="0" i="0">
                <a:solidFill>
                  <a:srgbClr val="0F172A"/>
                </a:solidFill>
                <a:latin typeface="Calibri"/>
              </a:rPr>
              <a:t>• 22 sample WhatsApp clients  (S4)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75569"/>
                </a:solidFill>
                <a:latin typeface="Calibri"/>
              </a:rPr>
              <a:t>Full log: docs/AGENT_CONSOLE_TESTS.md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45920"/>
            <a:ext cx="5897880" cy="4526280"/>
          </a:xfrm>
          <a:prstGeom prst="roundRect">
            <a:avLst>
              <a:gd name="adj" fmla="val 6000"/>
            </a:avLst>
          </a:prstGeom>
          <a:solidFill>
            <a:srgbClr val="F4F4F5"/>
          </a:solidFill>
          <a:ln w="9525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1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822371"/>
            <a:ext cx="5806440" cy="417337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97880" y="6199632"/>
            <a:ext cx="5806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14-row evidence table rendered from the test log. Synthetic data only.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653796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75569"/>
                </a:solidFill>
                <a:latin typeface="Calibri"/>
              </a:rPr>
              <a:t>Enterprise Buddy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3796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Synthetic demo data. No real payments move.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475569"/>
                </a:solidFill>
                <a:latin typeface="Calibri"/>
              </a:rPr>
              <a:t>SLIDE 7 / 7  ·  2:50 – 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94360"/>
            <a:ext cx="8778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Calibri"/>
              </a:rPr>
              <a:t>Thank you.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65760"/>
            <a:ext cx="2331720" cy="411480"/>
          </a:xfrm>
          <a:prstGeom prst="roundRect">
            <a:avLst/>
          </a:prstGeom>
          <a:solidFill>
            <a:srgbClr val="F4F4F5"/>
          </a:solidFill>
          <a:ln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" tIns="0"/>
          <a:lstStyle/>
          <a:p>
            <a:pPr algn="ctr"/>
            <a:r>
              <a:rPr sz="1000" b="1">
                <a:solidFill>
                  <a:srgbClr val="475569"/>
                </a:solidFill>
                <a:latin typeface="Calibri"/>
              </a:rPr>
              <a:t>Repeat the core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11155680" cy="12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  <a:latin typeface="Calibri"/>
              </a:rPr>
              <a:t>Enterprise Buddy turns a messy side hustle into a business that runs itself — all from one chat.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5760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4532D"/>
                </a:solidFill>
                <a:latin typeface="Calibri"/>
              </a:rPr>
              <a:t>Our AI agent uses WorkBuddy to solve a real problem, and it actually gets things done.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12064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Calibri"/>
              </a:rPr>
              <a:t>github.com/Griff1018/hackerdorm    ·    run with: PORT=8091 python console/server.py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521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75569"/>
                </a:solidFill>
                <a:latin typeface="Calibri"/>
              </a:rPr>
              <a:t>Synthetic demo data. Live demo apps: WhatsApp, Instagram, LinkedIn, Enterprise Buddy Shop. Simulated: payments, online banking, Touch 'n Go, marketplaces.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653796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475569"/>
                </a:solidFill>
                <a:latin typeface="Calibri"/>
              </a:rPr>
              <a:t>Enterprise Buddy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3796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475569"/>
                </a:solidFill>
                <a:latin typeface="Calibri"/>
              </a:rPr>
              <a:t>Synthetic demo data. No real payments move.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