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3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1" Type="http://schemas.openxmlformats.org/officeDocument/2006/relationships/slide" Target="slides/slide1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notesMaster" Target="notesMasters/notesMaster1.xml" /><Relationship Id="rId9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sz="1100">
                <a:latin typeface="Calibri"/>
              </a:rPr>
              <a:t>Track 2, Hackerdorm — judges, Track 2: WorkBuddy Track.</a:t>
            </a:r>
            <a:endParaRPr/>
          </a:p>
          <a:p>
            <a:pPr/>
            <a:r>
              <a:rPr sz="1100">
                <a:latin typeface="Calibri"/>
              </a:rPr>
              <a:t>Slide 1 — Criterion 1: real problem and user value.</a:t>
            </a:r>
            <a:endParaRPr/>
          </a:p>
          <a:p>
            <a:pPr/>
            <a:r>
              <a:rPr sz="1100">
                <a:latin typeface="Calibri"/>
              </a:rPr>
              <a:t>Picture a student who sells kuih between lectures.</a:t>
            </a:r>
            <a:endParaRPr/>
          </a:p>
          <a:p>
            <a:pPr/>
            <a:r>
              <a:rPr sz="1100">
                <a:latin typeface="Calibri"/>
              </a:rPr>
              <a:t>Twenty-two sample customers in our demo WhatsApp. (test S4)</a:t>
            </a:r>
            <a:endParaRPr/>
          </a:p>
          <a:p>
            <a:pPr/>
            <a:r>
              <a:rPr sz="1100">
                <a:latin typeface="Calibri"/>
              </a:rPr>
              <a:t>Touch 'n Go, online banking, cash — verified on Money Flow. (test S7)</a:t>
            </a:r>
            <a:endParaRPr/>
          </a:p>
          <a:p>
            <a:pPr/>
            <a:r>
              <a:rPr sz="1100">
                <a:latin typeface="Calibri"/>
              </a:rPr>
              <a:t>She can't see margins, stockouts or supplier orders. Today's slide 5 shows the alert that fixes that.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sz="1100">
                <a:latin typeface="Calibri"/>
              </a:rPr>
              <a:t>Slide 2 — Criterion 3: meaningful use of WorkBuddy.</a:t>
            </a:r>
            <a:endParaRPr/>
          </a:p>
          <a:p>
            <a:pPr/>
            <a:r>
              <a:rPr sz="1100">
                <a:latin typeface="Calibri"/>
              </a:rPr>
              <a:t>Answer the core judging question out loud: yes.</a:t>
            </a:r>
            <a:endParaRPr/>
          </a:p>
          <a:p>
            <a:pPr/>
            <a:r>
              <a:rPr sz="1100">
                <a:latin typeface="Calibri"/>
              </a:rPr>
              <a:t>Agent runtime = the CodeBuddy CLI inside WorkBuddy (test F1: codebuddy 2.164.0, stream-json).</a:t>
            </a:r>
            <a:endParaRPr/>
          </a:p>
          <a:p>
            <a:pPr/>
            <a:r>
              <a:rPr sz="1100">
                <a:latin typeface="Calibri"/>
              </a:rPr>
              <a:t>Enterprise Buddy's server and screens are the viewing and action layer around it.</a:t>
            </a:r>
            <a:endParaRPr/>
          </a:p>
          <a:p>
            <a:pPr/>
            <a:r>
              <a:rPr sz="1100">
                <a:latin typeface="Calibri"/>
              </a:rPr>
              <a:t>Tool whitelist restricts the agent to read-only commands; everything that changes anything goes through owner approval. (test F2)</a:t>
            </a:r>
            <a:endParaRPr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sz="1100">
                <a:latin typeface="Calibri"/>
              </a:rPr>
              <a:t>Slide 3 — Criteria 2 and 4: agentic workflow, end-to-end.</a:t>
            </a:r>
            <a:endParaRPr/>
          </a:p>
          <a:p>
            <a:pPr/>
            <a:r>
              <a:rPr sz="1100">
                <a:latin typeface="Calibri"/>
              </a:rPr>
              <a:t>Single prompt, full chain. No intermediate guidance.</a:t>
            </a:r>
            <a:endParaRPr/>
          </a:p>
          <a:p>
            <a:pPr/>
            <a:r>
              <a:rPr sz="1100">
                <a:latin typeface="Calibri"/>
              </a:rPr>
              <a:t>Departments are real: Operations, Strategy, Guides, Marketing, Reporting, Verifier, Technology.</a:t>
            </a:r>
            <a:endParaRPr/>
          </a:p>
          <a:p>
            <a:pPr/>
            <a:r>
              <a:rPr sz="1100">
                <a:latin typeface="Calibri"/>
              </a:rPr>
              <a:t>Map: 60 real food places around UM (26 cafe, 23 fast food, 8 food court). (test 'Market map — competitors near UM')</a:t>
            </a:r>
            <a:endParaRPr/>
          </a:p>
          <a:p>
            <a:pPr/>
            <a:r>
              <a:rPr sz="1100">
                <a:latin typeface="Calibri"/>
              </a:rPr>
              <a:t>Plan record: run 171822-c203 / chat 1010174017-288a.</a:t>
            </a:r>
            <a:endParaRPr/>
          </a:p>
          <a:p>
            <a:pPr/>
            <a:r>
              <a:rPr sz="1100">
                <a:latin typeface="Calibri"/>
              </a:rPr>
              <a:t>Chat 'bought sugar, paid TNG' test: 7 app actions, all correct, number check passed.</a:t>
            </a:r>
            <a:endParaRPr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sz="1100">
                <a:latin typeface="Calibri"/>
              </a:rPr>
              <a:t>Slide 4 — Criterion 5: usable and verifiable results.</a:t>
            </a:r>
            <a:endParaRPr/>
          </a:p>
          <a:p>
            <a:pPr/>
            <a:r>
              <a:rPr sz="1100">
                <a:latin typeface="Calibri"/>
              </a:rPr>
              <a:t>All four tile numbers are visible on the Money Flow screenshot on the right.</a:t>
            </a:r>
            <a:endParaRPr/>
          </a:p>
          <a:p>
            <a:pPr/>
            <a:r>
              <a:rPr sz="1100">
                <a:latin typeface="Calibri"/>
              </a:rPr>
              <a:t>Online banking and Touch 'n Go connections are simulated feeds; the badge says SIMULATED.</a:t>
            </a:r>
            <a:endParaRPr/>
          </a:p>
          <a:p>
            <a:pPr/>
            <a:r>
              <a:rPr sz="1100">
                <a:latin typeface="Calibri"/>
              </a:rPr>
              <a:t>Auto-reorder test S2: cookies 18 ≤ reorder 20 → 2 × 1 kg chips, MYR 39.80, sources.</a:t>
            </a:r>
            <a:endParaRPr/>
          </a:p>
          <a:p>
            <a:pPr/>
            <a:r>
              <a:rPr sz="1100">
                <a:latin typeface="Calibri"/>
              </a:rPr>
              <a:t>Auto-reply WhatsApp test S3: 4 automatic replies, MYR 21.50 menu-priced.</a:t>
            </a:r>
            <a:endParaRPr/>
          </a:p>
          <a:p>
            <a:pPr/>
            <a:r>
              <a:rPr sz="1100">
                <a:latin typeface="Calibri"/>
              </a:rPr>
              <a:t>Do not claim these are real revenue. They are synthetic demo data.</a:t>
            </a:r>
            <a:endParaRPr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sz="1100">
                <a:latin typeface="Calibri"/>
              </a:rPr>
              <a:t>Slide 5 — Criterion 5 (ease-of-use) and safety.</a:t>
            </a:r>
            <a:endParaRPr/>
          </a:p>
          <a:p>
            <a:pPr/>
            <a:r>
              <a:rPr sz="1100">
                <a:latin typeface="Calibri"/>
              </a:rPr>
              <a:t>Ease of use is our headline advantage. The chat is the product.</a:t>
            </a:r>
            <a:endParaRPr/>
          </a:p>
          <a:p>
            <a:pPr/>
            <a:r>
              <a:rPr sz="1100">
                <a:latin typeface="Calibri"/>
              </a:rPr>
              <a:t>Involvement modes: Auto / Ask me / Approve at end (Section G.10). Live demo uses Auto.</a:t>
            </a:r>
            <a:endParaRPr/>
          </a:p>
          <a:p>
            <a:pPr/>
            <a:r>
              <a:rPr sz="1100">
                <a:latin typeface="Calibri"/>
              </a:rPr>
              <a:t>Asks instead of guessing: 'Bug: agent assumed the customer of an unnamed order' fix; console holds unnamed orders and asks.</a:t>
            </a:r>
            <a:endParaRPr/>
          </a:p>
          <a:p>
            <a:pPr/>
            <a:r>
              <a:rPr sz="1100">
                <a:latin typeface="Calibri"/>
              </a:rPr>
              <a:t>Undo on every app action. (test S9)</a:t>
            </a:r>
            <a:endParaRPr/>
          </a:p>
          <a:p>
            <a:pPr/>
            <a:r>
              <a:rPr sz="1100">
                <a:latin typeface="Calibri"/>
              </a:rPr>
              <a:t>Number check: caught invented weekday figures (test S8). Now fixed and re-verified.</a:t>
            </a:r>
            <a:endParaRPr/>
          </a:p>
          <a:p>
            <a:pPr/>
            <a:r>
              <a:rPr sz="1100">
                <a:latin typeface="Calibri"/>
              </a:rPr>
              <a:t>Payments: 'Pay (simulated)' badge; never requests cards or passwords (Section G.14).</a:t>
            </a:r>
            <a:endParaRPr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sz="1100">
                <a:latin typeface="Calibri"/>
              </a:rPr>
              <a:t>Slide 6 — Criterion 5: verifiable.</a:t>
            </a:r>
            <a:endParaRPr/>
          </a:p>
          <a:p>
            <a:pPr/>
            <a:r>
              <a:rPr sz="1100">
                <a:latin typeface="Calibri"/>
              </a:rPr>
              <a:t>Every claim on the slide is a row in docs/AGENT_CONSOLE_TESTS.md (date 2026-10-10 and 2026-10-11).</a:t>
            </a:r>
            <a:endParaRPr/>
          </a:p>
          <a:p>
            <a:pPr/>
            <a:r>
              <a:rPr sz="1100">
                <a:latin typeface="Calibri"/>
              </a:rPr>
              <a:t>If pressed for a number: every figure shown is on the test-log row, all synthetic.</a:t>
            </a:r>
            <a:endParaRPr/>
          </a:p>
          <a:p>
            <a:pPr/>
            <a:r>
              <a:rPr sz="1100">
                <a:latin typeface="Calibri"/>
              </a:rPr>
              <a:t>Honest next step: real-user testing with 3–5 student sellers. Do not claim results we have not measured.</a:t>
            </a:r>
            <a:endParaRPr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sz="1100">
                <a:latin typeface="Calibri"/>
              </a:rPr>
              <a:t>Slide 7 — repeat the core judging sentence out loud.</a:t>
            </a:r>
            <a:endParaRPr/>
          </a:p>
          <a:p>
            <a:pPr/>
            <a:r>
              <a:rPr sz="1100">
                <a:latin typeface="Calibri"/>
              </a:rPr>
              <a:t>If time runs short, drop slide 6 first; the proof survives in the speaker notes.</a:t>
            </a:r>
            <a:endParaRPr/>
          </a:p>
          <a:p>
            <a:pPr/>
            <a:r>
              <a:rPr sz="1100">
                <a:latin typeface="Calibri"/>
              </a:rPr>
              <a:t>Open the repo and the running demo only if asked.</a:t>
            </a:r>
            <a:endParaRPr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5" Type="http://schemas.openxmlformats.org/officeDocument/2006/relationships/slideLayout" Target="../slideLayouts/slideLayout6.xml" /><Relationship Id="rId3" Type="http://schemas.openxmlformats.org/officeDocument/2006/relationships/slideLayout" Target="../slideLayouts/slideLayout4.xml" /><Relationship Id="rId4" Type="http://schemas.openxmlformats.org/officeDocument/2006/relationships/slideLayout" Target="../slideLayouts/slideLayout5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.xml" /><Relationship Id="rId2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.xml" /><Relationship Id="rId2" Type="http://schemas.openxmlformats.org/officeDocument/2006/relationships/image" Target="media/image2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3.xml" /><Relationship Id="rId2" Type="http://schemas.openxmlformats.org/officeDocument/2006/relationships/image" Target="media/image3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4.xml" /><Relationship Id="rId2" Type="http://schemas.openxmlformats.org/officeDocument/2006/relationships/image" Target="media/image4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2" Type="http://schemas.openxmlformats.org/officeDocument/2006/relationships/image" Target="media/image5.png" /><Relationship Id="rId1" Type="http://schemas.openxmlformats.org/officeDocument/2006/relationships/notesSlide" Target="../notesSlides/notesSlide5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6.xml" /><Relationship Id="rId2" Type="http://schemas.openxmlformats.org/officeDocument/2006/relationships/image" Target="media/image6.png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7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Calibri"/>
              </a:rPr>
              <a:t>SLIDE 1 / 7  ·  0:00 – 0:25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778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 student seller, scattered chats and stock in her head</a:t>
            </a: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2331720" cy="411480"/>
          </a:xfrm>
          <a:prstGeom prst="roundRect">
            <a:avLst/>
          </a:prstGeom>
          <a:solidFill>
            <a:srgbClr val="F4F4F5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0" rtlCol="0" anchor="ctr"/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Criterion 1 · Real problem &amp; user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155680" cy="120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02920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Orders on WhatsApp.</a:t>
            </a:r>
            <a:endParaRPr/>
          </a:p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Money in 22 sample chats — Touch 'n Go, online banking, cash.</a:t>
            </a:r>
            <a:endParaRPr/>
          </a:p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Stock tracked in her head.</a:t>
            </a:r>
            <a:endParaRPr/>
          </a:p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No time to learn another dashboard.</a:t>
            </a:r>
            <a:endParaRPr/>
          </a:p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She needs someone to do the work.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52160" y="1645920"/>
            <a:ext cx="5897880" cy="45262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1_whats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94547"/>
            <a:ext cx="5806440" cy="3629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97880" y="6199632"/>
            <a:ext cx="5806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Demo WhatsApp inbox — 14 customer chats visible. SYNTHETIC.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69880" y="65379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75569"/>
                </a:solidFill>
                <a:latin typeface="Calibri"/>
              </a:rPr>
              <a:t>Enterprise Buddy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Synthetic demo data. No real payments move.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Calibri"/>
              </a:rPr>
              <a:t>SLIDE 2 / 7  ·  0:25 – 0:50</a:t>
            </a:r>
            <a:endParaRPr/>
          </a:p>
        </p:txBody>
      </p:sp>
      <p:sp>
        <p:nvSpPr>
          <p:cNvPr id="14" name="TextBox 2"/>
          <p:cNvSpPr txBox="1"/>
          <p:nvPr/>
        </p:nvSpPr>
        <p:spPr>
          <a:xfrm>
            <a:off x="502920" y="594360"/>
            <a:ext cx="8778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WorkBuddy is the brain, not just the builder</a:t>
            </a:r>
            <a:endParaRPr/>
          </a:p>
        </p:txBody>
      </p:sp>
      <p:sp>
        <p:nvSpPr>
          <p:cNvPr id="15" name="Rounded Rectangle 3"/>
          <p:cNvSpPr/>
          <p:nvPr/>
        </p:nvSpPr>
        <p:spPr>
          <a:xfrm>
            <a:off x="9646920" y="365760"/>
            <a:ext cx="2331720" cy="411480"/>
          </a:xfrm>
          <a:prstGeom prst="roundRect">
            <a:avLst/>
          </a:prstGeom>
          <a:solidFill>
            <a:srgbClr val="F4F4F5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0" rtlCol="0" anchor="ctr"/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Criterion 3 · Meaningful use of WorkBuddy</a:t>
            </a:r>
            <a:endParaRPr/>
          </a:p>
        </p:txBody>
      </p:sp>
      <p:sp>
        <p:nvSpPr>
          <p:cNvPr id="16" name="Rectangle 4"/>
          <p:cNvSpPr/>
          <p:nvPr/>
        </p:nvSpPr>
        <p:spPr>
          <a:xfrm>
            <a:off x="502920" y="1417320"/>
            <a:ext cx="11155680" cy="120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5"/>
          <p:cNvSpPr txBox="1"/>
          <p:nvPr/>
        </p:nvSpPr>
        <p:spPr>
          <a:xfrm>
            <a:off x="502920" y="1691640"/>
            <a:ext cx="512064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Can our AI agent use WorkBuddy to solve a real problem — and actually get things done?</a:t>
            </a:r>
            <a:endParaRPr/>
          </a:p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Yes.</a:t>
            </a:r>
            <a:endParaRPr/>
          </a:p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WorkBuddy is the agent's runtime, not just the IDE we used to write code.</a:t>
            </a:r>
            <a:endParaRPr/>
          </a:p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Every request goes to WorkBuddy. It plans, calls a read-only toolkit, searches the web, and returns actions the app runs.</a:t>
            </a:r>
            <a:endParaRPr/>
          </a:p>
        </p:txBody>
      </p:sp>
      <p:sp>
        <p:nvSpPr>
          <p:cNvPr id="18" name="Rounded Rectangle 6"/>
          <p:cNvSpPr/>
          <p:nvPr/>
        </p:nvSpPr>
        <p:spPr>
          <a:xfrm>
            <a:off x="5852160" y="1645920"/>
            <a:ext cx="5897880" cy="45262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7" descr="02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94547"/>
            <a:ext cx="5806440" cy="3629025"/>
          </a:xfrm>
          <a:prstGeom prst="rect">
            <a:avLst/>
          </a:prstGeom>
        </p:spPr>
      </p:pic>
      <p:sp>
        <p:nvSpPr>
          <p:cNvPr id="20" name="TextBox 8"/>
          <p:cNvSpPr txBox="1"/>
          <p:nvPr/>
        </p:nvSpPr>
        <p:spPr>
          <a:xfrm>
            <a:off x="5897880" y="6199632"/>
            <a:ext cx="5806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One chat box. Suggested prompts adapt to Campus Crumb's data.</a:t>
            </a:r>
            <a:endParaRPr/>
          </a:p>
        </p:txBody>
      </p:sp>
      <p:sp>
        <p:nvSpPr>
          <p:cNvPr id="21" name="TextBox 9"/>
          <p:cNvSpPr txBox="1"/>
          <p:nvPr/>
        </p:nvSpPr>
        <p:spPr>
          <a:xfrm>
            <a:off x="10469880" y="65379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75569"/>
                </a:solidFill>
                <a:latin typeface="Calibri"/>
              </a:rPr>
              <a:t>Enterprise Buddy</a:t>
            </a:r>
            <a:endParaRPr/>
          </a:p>
        </p:txBody>
      </p:sp>
      <p:sp>
        <p:nvSpPr>
          <p:cNvPr id="22" name="TextBox 10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Synthetic demo data. No real payments move.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Calibri"/>
              </a:rPr>
              <a:t>SLIDE 3 / 7  ·  0:50 – 1:30</a:t>
            </a:r>
            <a:endParaRPr/>
          </a:p>
        </p:txBody>
      </p:sp>
      <p:sp>
        <p:nvSpPr>
          <p:cNvPr id="25" name="TextBox 2"/>
          <p:cNvSpPr txBox="1"/>
          <p:nvPr/>
        </p:nvSpPr>
        <p:spPr>
          <a:xfrm>
            <a:off x="502920" y="594360"/>
            <a:ext cx="8778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One prompt → plan → departments → owner approval</a:t>
            </a:r>
            <a:endParaRPr/>
          </a:p>
        </p:txBody>
      </p:sp>
      <p:sp>
        <p:nvSpPr>
          <p:cNvPr id="26" name="Rounded Rectangle 3"/>
          <p:cNvSpPr/>
          <p:nvPr/>
        </p:nvSpPr>
        <p:spPr>
          <a:xfrm>
            <a:off x="9646920" y="365760"/>
            <a:ext cx="2331720" cy="411480"/>
          </a:xfrm>
          <a:prstGeom prst="roundRect">
            <a:avLst/>
          </a:prstGeom>
          <a:solidFill>
            <a:srgbClr val="F4F4F5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0" rtlCol="0" anchor="ctr"/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Criteria 2 + 4 · Agentic · End-to-end</a:t>
            </a:r>
            <a:endParaRPr/>
          </a:p>
        </p:txBody>
      </p:sp>
      <p:sp>
        <p:nvSpPr>
          <p:cNvPr id="27" name="Rectangle 4"/>
          <p:cNvSpPr/>
          <p:nvPr/>
        </p:nvSpPr>
        <p:spPr>
          <a:xfrm>
            <a:off x="502920" y="1417320"/>
            <a:ext cx="11155680" cy="120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5"/>
          <p:cNvSpPr txBox="1"/>
          <p:nvPr/>
        </p:nvSpPr>
        <p:spPr>
          <a:xfrm>
            <a:off x="502920" y="1691640"/>
            <a:ext cx="512064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Prompt: "I want to sell kuih at my campus near Universiti Malaya."</a:t>
            </a:r>
            <a:endParaRPr/>
          </a:p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WorkBuddy splits it: Operations scores suppliers · Strategy maps competitors from OpenStreetMap · Guides drafts permits · Marketing drafts posts.</a:t>
            </a:r>
            <a:endParaRPr/>
          </a:p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Every step cites a real web page or the owner's own records.</a:t>
            </a:r>
            <a:endParaRPr/>
          </a:p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A stale stock count triggers 'recount first' — never a wrong reorder.</a:t>
            </a:r>
            <a:endParaRPr/>
          </a:p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And small things just work — "bought sugar, paid by TNG" becomes two money entries + an inventory top-up in one reply.</a:t>
            </a:r>
            <a:endParaRPr/>
          </a:p>
        </p:txBody>
      </p:sp>
      <p:sp>
        <p:nvSpPr>
          <p:cNvPr id="29" name="Rounded Rectangle 6"/>
          <p:cNvSpPr/>
          <p:nvPr/>
        </p:nvSpPr>
        <p:spPr>
          <a:xfrm>
            <a:off x="5852160" y="1645920"/>
            <a:ext cx="5897880" cy="45262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7" descr="03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94547"/>
            <a:ext cx="5806440" cy="3629025"/>
          </a:xfrm>
          <a:prstGeom prst="rect">
            <a:avLst/>
          </a:prstGeom>
        </p:spPr>
      </p:pic>
      <p:sp>
        <p:nvSpPr>
          <p:cNvPr id="31" name="TextBox 8"/>
          <p:cNvSpPr txBox="1"/>
          <p:nvPr/>
        </p:nvSpPr>
        <p:spPr>
          <a:xfrm>
            <a:off x="5897880" y="6199632"/>
            <a:ext cx="5806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Plan P1–P5 with review panel and 60 real competitor places from OpenStreetMap.</a:t>
            </a:r>
            <a:endParaRPr/>
          </a:p>
        </p:txBody>
      </p:sp>
      <p:sp>
        <p:nvSpPr>
          <p:cNvPr id="32" name="TextBox 9"/>
          <p:cNvSpPr txBox="1"/>
          <p:nvPr/>
        </p:nvSpPr>
        <p:spPr>
          <a:xfrm>
            <a:off x="10469880" y="65379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75569"/>
                </a:solidFill>
                <a:latin typeface="Calibri"/>
              </a:rPr>
              <a:t>Enterprise Buddy</a:t>
            </a:r>
            <a:endParaRPr/>
          </a:p>
        </p:txBody>
      </p:sp>
      <p:sp>
        <p:nvSpPr>
          <p:cNvPr id="33" name="TextBox 10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Synthetic demo data. No real payments move.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Calibri"/>
              </a:rPr>
              <a:t>SLIDE 4 / 7  ·  1:30 – 2:05</a:t>
            </a:r>
            <a:endParaRPr/>
          </a:p>
        </p:txBody>
      </p:sp>
      <p:sp>
        <p:nvSpPr>
          <p:cNvPr id="36" name="TextBox 2"/>
          <p:cNvSpPr txBox="1"/>
          <p:nvPr/>
        </p:nvSpPr>
        <p:spPr>
          <a:xfrm>
            <a:off x="502920" y="594360"/>
            <a:ext cx="8778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Money in, money out, and the alerts that matter</a:t>
            </a:r>
            <a:endParaRPr/>
          </a:p>
        </p:txBody>
      </p:sp>
      <p:sp>
        <p:nvSpPr>
          <p:cNvPr id="37" name="Rounded Rectangle 3"/>
          <p:cNvSpPr/>
          <p:nvPr/>
        </p:nvSpPr>
        <p:spPr>
          <a:xfrm>
            <a:off x="9646920" y="365760"/>
            <a:ext cx="2331720" cy="411480"/>
          </a:xfrm>
          <a:prstGeom prst="roundRect">
            <a:avLst/>
          </a:prstGeom>
          <a:solidFill>
            <a:srgbClr val="F4F4F5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0" rtlCol="0" anchor="ctr"/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Criterion 5 · Usable results</a:t>
            </a:r>
            <a:endParaRPr/>
          </a:p>
        </p:txBody>
      </p:sp>
      <p:sp>
        <p:nvSpPr>
          <p:cNvPr id="38" name="Rectangle 4"/>
          <p:cNvSpPr/>
          <p:nvPr/>
        </p:nvSpPr>
        <p:spPr>
          <a:xfrm>
            <a:off x="502920" y="1417320"/>
            <a:ext cx="11155680" cy="120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5"/>
          <p:cNvSpPr/>
          <p:nvPr/>
        </p:nvSpPr>
        <p:spPr>
          <a:xfrm>
            <a:off x="502920" y="1691640"/>
            <a:ext cx="5120640" cy="461772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6"/>
          <p:cNvSpPr txBox="1"/>
          <p:nvPr/>
        </p:nvSpPr>
        <p:spPr>
          <a:xfrm>
            <a:off x="68580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Calibri"/>
              </a:rPr>
              <a:t>Money Flow · synthetic demo data</a:t>
            </a:r>
            <a:endParaRPr/>
          </a:p>
        </p:txBody>
      </p:sp>
      <p:sp>
        <p:nvSpPr>
          <p:cNvPr id="41" name="TextBox 7"/>
          <p:cNvSpPr txBox="1"/>
          <p:nvPr/>
        </p:nvSpPr>
        <p:spPr>
          <a:xfrm>
            <a:off x="685800" y="22860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4532D"/>
                </a:solidFill>
                <a:latin typeface="Calibri"/>
              </a:rPr>
              <a:t>MYR 2,507.25 in</a:t>
            </a:r>
            <a:endParaRPr/>
          </a:p>
        </p:txBody>
      </p:sp>
      <p:sp>
        <p:nvSpPr>
          <p:cNvPr id="42" name="TextBox 8"/>
          <p:cNvSpPr txBox="1"/>
          <p:nvPr/>
        </p:nvSpPr>
        <p:spPr>
          <a:xfrm>
            <a:off x="685800" y="2788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B91C1C"/>
                </a:solidFill>
                <a:latin typeface="Calibri"/>
              </a:rPr>
              <a:t>MYR 1,172.30 out</a:t>
            </a:r>
            <a:endParaRPr/>
          </a:p>
        </p:txBody>
      </p:sp>
      <p:sp>
        <p:nvSpPr>
          <p:cNvPr id="43" name="TextBox 9"/>
          <p:cNvSpPr txBox="1"/>
          <p:nvPr/>
        </p:nvSpPr>
        <p:spPr>
          <a:xfrm>
            <a:off x="685800" y="32918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MYR 1,334.95 kept</a:t>
            </a:r>
            <a:endParaRPr/>
          </a:p>
        </p:txBody>
      </p:sp>
      <p:sp>
        <p:nvSpPr>
          <p:cNvPr id="44" name="TextBox 10"/>
          <p:cNvSpPr txBox="1"/>
          <p:nvPr/>
        </p:nvSpPr>
        <p:spPr>
          <a:xfrm>
            <a:off x="685800" y="388620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Orders from WhatsApp, Instagram and the online shop — AI prices from menu.csv.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Inventory with auto-reorder; supplier orders go to the supplier's WhatsApp after you approve.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Auto-posting · Customers &amp; reviews · Task checklist.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Heads-up: 'Cookies run out in 3.2 days — reorder now.'</a:t>
            </a:r>
            <a:endParaRPr/>
          </a:p>
        </p:txBody>
      </p:sp>
      <p:sp>
        <p:nvSpPr>
          <p:cNvPr id="45" name="Rounded Rectangle 11"/>
          <p:cNvSpPr/>
          <p:nvPr/>
        </p:nvSpPr>
        <p:spPr>
          <a:xfrm>
            <a:off x="5852160" y="1645920"/>
            <a:ext cx="5897880" cy="45262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12" descr="04_mone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94547"/>
            <a:ext cx="5806440" cy="3629025"/>
          </a:xfrm>
          <a:prstGeom prst="rect">
            <a:avLst/>
          </a:prstGeom>
        </p:spPr>
      </p:pic>
      <p:sp>
        <p:nvSpPr>
          <p:cNvPr id="47" name="TextBox 13"/>
          <p:cNvSpPr txBox="1"/>
          <p:nvPr/>
        </p:nvSpPr>
        <p:spPr>
          <a:xfrm>
            <a:off x="5897880" y="6199632"/>
            <a:ext cx="5806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Live Money Flow page. Verified: in MYR 2,507.25, out MYR 1,172.30. Synthetic.</a:t>
            </a:r>
            <a:endParaRPr/>
          </a:p>
        </p:txBody>
      </p:sp>
      <p:sp>
        <p:nvSpPr>
          <p:cNvPr id="48" name="TextBox 14"/>
          <p:cNvSpPr txBox="1"/>
          <p:nvPr/>
        </p:nvSpPr>
        <p:spPr>
          <a:xfrm>
            <a:off x="10469880" y="65379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75569"/>
                </a:solidFill>
                <a:latin typeface="Calibri"/>
              </a:rPr>
              <a:t>Enterprise Buddy</a:t>
            </a:r>
            <a:endParaRPr/>
          </a:p>
        </p:txBody>
      </p:sp>
      <p:sp>
        <p:nvSpPr>
          <p:cNvPr id="49" name="TextBox 15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Synthetic demo data. No real payments move.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Calibri"/>
              </a:rPr>
              <a:t>SLIDE 5 / 7  ·  2:05 – 2:35</a:t>
            </a:r>
            <a:endParaRPr/>
          </a:p>
        </p:txBody>
      </p:sp>
      <p:sp>
        <p:nvSpPr>
          <p:cNvPr id="52" name="TextBox 2"/>
          <p:cNvSpPr txBox="1"/>
          <p:nvPr/>
        </p:nvSpPr>
        <p:spPr>
          <a:xfrm>
            <a:off x="502920" y="594360"/>
            <a:ext cx="8778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One chat. Owner approves. Real money never moves.</a:t>
            </a:r>
            <a:endParaRPr/>
          </a:p>
        </p:txBody>
      </p:sp>
      <p:sp>
        <p:nvSpPr>
          <p:cNvPr id="53" name="Rounded Rectangle 3"/>
          <p:cNvSpPr/>
          <p:nvPr/>
        </p:nvSpPr>
        <p:spPr>
          <a:xfrm>
            <a:off x="9646920" y="365760"/>
            <a:ext cx="2331720" cy="411480"/>
          </a:xfrm>
          <a:prstGeom prst="roundRect">
            <a:avLst/>
          </a:prstGeom>
          <a:solidFill>
            <a:srgbClr val="F4F4F5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0" rtlCol="0" anchor="ctr"/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Criterion 5 · Ease of use · Safety</a:t>
            </a:r>
            <a:endParaRPr/>
          </a:p>
        </p:txBody>
      </p:sp>
      <p:sp>
        <p:nvSpPr>
          <p:cNvPr id="54" name="Rectangle 4"/>
          <p:cNvSpPr/>
          <p:nvPr/>
        </p:nvSpPr>
        <p:spPr>
          <a:xfrm>
            <a:off x="502920" y="1417320"/>
            <a:ext cx="11155680" cy="120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"/>
          <p:cNvSpPr txBox="1"/>
          <p:nvPr/>
        </p:nvSpPr>
        <p:spPr>
          <a:xfrm>
            <a:off x="502920" y="1691640"/>
            <a:ext cx="512064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Plain language and the top actions first.</a:t>
            </a:r>
            <a:endParaRPr/>
          </a:p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Owner chooses how involved to be: quick answers, or a plan they approve step by step.</a:t>
            </a:r>
            <a:endParaRPr/>
          </a:p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If the agent isn't sure, it asks.</a:t>
            </a:r>
            <a:endParaRPr/>
          </a:p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Give it an order with no customer name and it asks 'Who is this order for?'</a:t>
            </a:r>
            <a:endParaRPr/>
          </a:p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Every change has Undo. Every MYR figure is checked against the data.</a:t>
            </a:r>
            <a:endParaRPr/>
          </a:p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Payments are simulated and wait for the owner's approval.</a:t>
            </a:r>
            <a:endParaRPr/>
          </a:p>
        </p:txBody>
      </p:sp>
      <p:sp>
        <p:nvSpPr>
          <p:cNvPr id="56" name="Rounded Rectangle 6"/>
          <p:cNvSpPr/>
          <p:nvPr/>
        </p:nvSpPr>
        <p:spPr>
          <a:xfrm>
            <a:off x="5852160" y="1645920"/>
            <a:ext cx="5897880" cy="45262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7" descr="07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94547"/>
            <a:ext cx="5806440" cy="3629025"/>
          </a:xfrm>
          <a:prstGeom prst="rect">
            <a:avLst/>
          </a:prstGeom>
        </p:spPr>
      </p:pic>
      <p:sp>
        <p:nvSpPr>
          <p:cNvPr id="58" name="TextBox 8"/>
          <p:cNvSpPr txBox="1"/>
          <p:nvPr/>
        </p:nvSpPr>
        <p:spPr>
          <a:xfrm>
            <a:off x="5897880" y="6199632"/>
            <a:ext cx="5806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Inventory: 'Approve &amp; pay' / 'Not now' gate, supplier options, sources for every order.</a:t>
            </a:r>
            <a:endParaRPr/>
          </a:p>
        </p:txBody>
      </p:sp>
      <p:sp>
        <p:nvSpPr>
          <p:cNvPr id="59" name="TextBox 9"/>
          <p:cNvSpPr txBox="1"/>
          <p:nvPr/>
        </p:nvSpPr>
        <p:spPr>
          <a:xfrm>
            <a:off x="10469880" y="65379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75569"/>
                </a:solidFill>
                <a:latin typeface="Calibri"/>
              </a:rPr>
              <a:t>Enterprise Buddy</a:t>
            </a:r>
            <a:endParaRPr/>
          </a:p>
        </p:txBody>
      </p:sp>
      <p:sp>
        <p:nvSpPr>
          <p:cNvPr id="60" name="TextBox 10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Synthetic demo data. No real payments move.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Calibri"/>
              </a:rPr>
              <a:t>SLIDE 6 / 7  ·  2:35 – 2:50</a:t>
            </a:r>
            <a:endParaRPr/>
          </a:p>
        </p:txBody>
      </p:sp>
      <p:sp>
        <p:nvSpPr>
          <p:cNvPr id="63" name="TextBox 2"/>
          <p:cNvSpPr txBox="1"/>
          <p:nvPr/>
        </p:nvSpPr>
        <p:spPr>
          <a:xfrm>
            <a:off x="502920" y="594360"/>
            <a:ext cx="8778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Tested on synthetic data. Real-user testing is next.</a:t>
            </a:r>
            <a:endParaRPr/>
          </a:p>
        </p:txBody>
      </p:sp>
      <p:sp>
        <p:nvSpPr>
          <p:cNvPr id="64" name="Rounded Rectangle 3"/>
          <p:cNvSpPr/>
          <p:nvPr/>
        </p:nvSpPr>
        <p:spPr>
          <a:xfrm>
            <a:off x="9646920" y="365760"/>
            <a:ext cx="2331720" cy="411480"/>
          </a:xfrm>
          <a:prstGeom prst="roundRect">
            <a:avLst/>
          </a:prstGeom>
          <a:solidFill>
            <a:srgbClr val="F4F4F5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0" rtlCol="0" anchor="ctr"/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Criterion 5 · Verifiable</a:t>
            </a:r>
            <a:endParaRPr/>
          </a:p>
        </p:txBody>
      </p:sp>
      <p:sp>
        <p:nvSpPr>
          <p:cNvPr id="65" name="Rectangle 4"/>
          <p:cNvSpPr/>
          <p:nvPr/>
        </p:nvSpPr>
        <p:spPr>
          <a:xfrm>
            <a:off x="502920" y="1417320"/>
            <a:ext cx="11155680" cy="120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5"/>
          <p:cNvSpPr/>
          <p:nvPr/>
        </p:nvSpPr>
        <p:spPr>
          <a:xfrm>
            <a:off x="502920" y="1691640"/>
            <a:ext cx="5120640" cy="461772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"/>
          <p:cNvSpPr txBox="1"/>
          <p:nvPr/>
        </p:nvSpPr>
        <p:spPr>
          <a:xfrm>
            <a:off x="68580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Calibri"/>
              </a:rPr>
              <a:t>Evidence at a glance</a:t>
            </a:r>
            <a:endParaRPr/>
          </a:p>
        </p:txBody>
      </p:sp>
      <p:sp>
        <p:nvSpPr>
          <p:cNvPr id="68" name="TextBox 7"/>
          <p:cNvSpPr txBox="1"/>
          <p:nvPr/>
        </p:nvSpPr>
        <p:spPr>
          <a:xfrm>
            <a:off x="685800" y="228600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• WorkBuddy CLI live, streaming events  (F1)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• Tool whitelist enforced  (F2)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• 'What needs my attention today?' → 9 plan items, verifier PASS  (test 1)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• Prompt-injection refused  (test 9)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• Approve 2 / reject 1, budget reconciled  (test 10)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• OpenStreetMap competitor map, 60 places  (S1)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• Auto-reorder on real stock, with sources  (S2)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• Auto-reply WhatsApp orders from menu.csv  (S3)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• Money Flow reconciles to verified brief  (S7)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• Number check caught invented figures  (S8)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• Undo verified for every change  (S9)</a:t>
            </a:r>
            <a:endParaRPr/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• 22 sample WhatsApp clients  (S4)</a:t>
            </a:r>
            <a:endParaRPr/>
          </a:p>
        </p:txBody>
      </p:sp>
      <p:sp>
        <p:nvSpPr>
          <p:cNvPr id="69" name="TextBox 8"/>
          <p:cNvSpPr txBox="1"/>
          <p:nvPr/>
        </p:nvSpPr>
        <p:spPr>
          <a:xfrm>
            <a:off x="685800" y="59893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Full log: docs/AGENT_CONSOLE_TESTS.md</a:t>
            </a:r>
            <a:endParaRPr/>
          </a:p>
        </p:txBody>
      </p:sp>
      <p:sp>
        <p:nvSpPr>
          <p:cNvPr id="70" name="Rounded Rectangle 9"/>
          <p:cNvSpPr/>
          <p:nvPr/>
        </p:nvSpPr>
        <p:spPr>
          <a:xfrm>
            <a:off x="5852160" y="1645920"/>
            <a:ext cx="5897880" cy="45262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10" descr="11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22371"/>
            <a:ext cx="5806440" cy="4173378"/>
          </a:xfrm>
          <a:prstGeom prst="rect">
            <a:avLst/>
          </a:prstGeom>
        </p:spPr>
      </p:pic>
      <p:sp>
        <p:nvSpPr>
          <p:cNvPr id="72" name="TextBox 11"/>
          <p:cNvSpPr txBox="1"/>
          <p:nvPr/>
        </p:nvSpPr>
        <p:spPr>
          <a:xfrm>
            <a:off x="5897880" y="6199632"/>
            <a:ext cx="5806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14-row evidence table rendered from the test log. Synthetic data only.</a:t>
            </a:r>
            <a:endParaRPr/>
          </a:p>
        </p:txBody>
      </p:sp>
      <p:sp>
        <p:nvSpPr>
          <p:cNvPr id="73" name="TextBox 12"/>
          <p:cNvSpPr txBox="1"/>
          <p:nvPr/>
        </p:nvSpPr>
        <p:spPr>
          <a:xfrm>
            <a:off x="10469880" y="65379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75569"/>
                </a:solidFill>
                <a:latin typeface="Calibri"/>
              </a:rPr>
              <a:t>Enterprise Buddy</a:t>
            </a:r>
            <a:endParaRPr/>
          </a:p>
        </p:txBody>
      </p:sp>
      <p:sp>
        <p:nvSpPr>
          <p:cNvPr id="74" name="TextBox 13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Synthetic demo data. No real payments move.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Calibri"/>
              </a:rPr>
              <a:t>SLIDE 7 / 7  ·  2:50 – 3:00</a:t>
            </a:r>
            <a:endParaRPr/>
          </a:p>
        </p:txBody>
      </p:sp>
      <p:sp>
        <p:nvSpPr>
          <p:cNvPr id="77" name="TextBox 2"/>
          <p:cNvSpPr txBox="1"/>
          <p:nvPr/>
        </p:nvSpPr>
        <p:spPr>
          <a:xfrm>
            <a:off x="502920" y="594360"/>
            <a:ext cx="8778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Thank you.</a:t>
            </a:r>
            <a:endParaRPr/>
          </a:p>
        </p:txBody>
      </p:sp>
      <p:sp>
        <p:nvSpPr>
          <p:cNvPr id="78" name="Rounded Rectangle 3"/>
          <p:cNvSpPr/>
          <p:nvPr/>
        </p:nvSpPr>
        <p:spPr>
          <a:xfrm>
            <a:off x="9646920" y="365760"/>
            <a:ext cx="2331720" cy="411480"/>
          </a:xfrm>
          <a:prstGeom prst="roundRect">
            <a:avLst/>
          </a:prstGeom>
          <a:solidFill>
            <a:srgbClr val="F4F4F5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0" rtlCol="0" anchor="ctr"/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Repeat the core question</a:t>
            </a:r>
            <a:endParaRPr/>
          </a:p>
        </p:txBody>
      </p:sp>
      <p:sp>
        <p:nvSpPr>
          <p:cNvPr id="79" name="Rectangle 4"/>
          <p:cNvSpPr/>
          <p:nvPr/>
        </p:nvSpPr>
        <p:spPr>
          <a:xfrm>
            <a:off x="502920" y="1417320"/>
            <a:ext cx="11155680" cy="120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5"/>
          <p:cNvSpPr txBox="1"/>
          <p:nvPr/>
        </p:nvSpPr>
        <p:spPr>
          <a:xfrm>
            <a:off x="502920" y="210312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Enterprise Buddy turns a messy side hustle into a business that runs itself — all from one chat.</a:t>
            </a:r>
            <a:endParaRPr/>
          </a:p>
        </p:txBody>
      </p:sp>
      <p:sp>
        <p:nvSpPr>
          <p:cNvPr id="81" name="TextBox 6"/>
          <p:cNvSpPr txBox="1"/>
          <p:nvPr/>
        </p:nvSpPr>
        <p:spPr>
          <a:xfrm>
            <a:off x="502920" y="3657600"/>
            <a:ext cx="11155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4532D"/>
                </a:solidFill>
                <a:latin typeface="Calibri"/>
              </a:rPr>
              <a:t>Our AI agent uses WorkBuddy to solve a real problem, and it actually gets things done.</a:t>
            </a:r>
            <a:endParaRPr/>
          </a:p>
        </p:txBody>
      </p:sp>
      <p:sp>
        <p:nvSpPr>
          <p:cNvPr id="82" name="TextBox 7"/>
          <p:cNvSpPr txBox="1"/>
          <p:nvPr/>
        </p:nvSpPr>
        <p:spPr>
          <a:xfrm>
            <a:off x="502920" y="512064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github.com/Griff1018/hackerdorm    ·    run with: PORT=8091 python console/server.py</a:t>
            </a:r>
            <a:endParaRPr/>
          </a:p>
        </p:txBody>
      </p:sp>
      <p:sp>
        <p:nvSpPr>
          <p:cNvPr id="83" name="TextBox 8"/>
          <p:cNvSpPr txBox="1"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Synthetic demo data. Live demo apps: WhatsApp, Instagram, LinkedIn, Enterprise Buddy Shop. Simulated: payments, online banking, Touch 'n Go, marketplaces.</a:t>
            </a:r>
            <a:endParaRPr/>
          </a:p>
        </p:txBody>
      </p:sp>
      <p:sp>
        <p:nvSpPr>
          <p:cNvPr id="84" name="TextBox 9"/>
          <p:cNvSpPr txBox="1"/>
          <p:nvPr/>
        </p:nvSpPr>
        <p:spPr>
          <a:xfrm>
            <a:off x="10469880" y="65379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75569"/>
                </a:solidFill>
                <a:latin typeface="Calibri"/>
              </a:rPr>
              <a:t>Enterprise Buddy</a:t>
            </a:r>
            <a:endParaRPr/>
          </a:p>
        </p:txBody>
      </p:sp>
      <p:sp>
        <p:nvSpPr>
          <p:cNvPr id="85" name="TextBox 10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Synthetic demo data. No real payments move.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2026-10-11T04:02:59Z</dcterms:created>
  <dcterms:modified xsi:type="dcterms:W3CDTF">2026-10-11T04:02:59Z</dcterms:modified>
</cp:coreProperties>
</file>